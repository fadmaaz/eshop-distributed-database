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0" r:id="rId6"/>
    <p:sldId id="261" r:id="rId7"/>
    <p:sldId id="262" r:id="rId8"/>
    <p:sldId id="263" r:id="rId9"/>
    <p:sldId id="267" r:id="rId10"/>
    <p:sldId id="268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93" d="100"/>
          <a:sy n="93" d="100"/>
        </p:scale>
        <p:origin x="54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992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904D8-F51E-E696-3882-579CE6C49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7F47C-8CA1-736D-3CA6-C416E348A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BF8A5-3A60-CB3E-7152-63996ECF4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5A9C0-EF4A-2E03-A0C2-D871F8764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50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Université Hassan 1ᵉʳ  •  Faculté des Sciences et Techniques  •  Settat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Cycle d'Ingénieur en Génie Informatique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ADCFC"/>
                </a:solidFill>
              </a:rPr>
              <a:t>Rapport de Projet de Fin d'Études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261872"/>
            <a:ext cx="9144000" cy="182880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3A6B"/>
                </a:solidFill>
              </a:rPr>
              <a:t>e-shop Distribué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5FA3"/>
                </a:solidFill>
              </a:rPr>
              <a:t>Optimisation de la Performance et de la Scalabilité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Base de Données Distribuée  •  Oracle Database  •  PL/SQL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3127248"/>
            <a:ext cx="5486400" cy="0"/>
          </a:xfrm>
          <a:prstGeom prst="line">
            <a:avLst/>
          </a:prstGeom>
          <a:noFill/>
          <a:ln w="1270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</a:rPr>
              <a:t>Fadma AZAROUAL  •  Ahlam ET-TARRAB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Encadré par : M. Mohammed BAHAJ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Année Universitaire  2025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" name="Text 1"/>
          <p:cNvSpPr/>
          <p:nvPr/>
        </p:nvSpPr>
        <p:spPr>
          <a:xfrm>
            <a:off x="182880" y="457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Plan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1234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Introduction et Contexte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719072"/>
            <a:ext cx="2468880" cy="0"/>
          </a:xfrm>
          <a:prstGeom prst="line">
            <a:avLst/>
          </a:prstGeom>
          <a:noFill/>
          <a:ln w="6350">
            <a:solidFill>
              <a:srgbClr val="2D4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847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02  Idée du Projet et Solution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2331720"/>
            <a:ext cx="2468880" cy="0"/>
          </a:xfrm>
          <a:prstGeom prst="line">
            <a:avLst/>
          </a:prstGeom>
          <a:noFill/>
          <a:ln w="6350">
            <a:solidFill>
              <a:srgbClr val="2D4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4597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03  Architecture et Conception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2944368"/>
            <a:ext cx="2468880" cy="0"/>
          </a:xfrm>
          <a:prstGeom prst="line">
            <a:avLst/>
          </a:prstGeom>
          <a:noFill/>
          <a:ln w="6350">
            <a:solidFill>
              <a:srgbClr val="2D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0723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04  Réalisation et Optimisation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3557016"/>
            <a:ext cx="2468880" cy="0"/>
          </a:xfrm>
          <a:prstGeom prst="line">
            <a:avLst/>
          </a:prstGeom>
          <a:noFill/>
          <a:ln w="6350">
            <a:solidFill>
              <a:srgbClr val="2D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368503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05  Résultats et Perspectives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4169664"/>
            <a:ext cx="2468880" cy="0"/>
          </a:xfrm>
          <a:prstGeom prst="line">
            <a:avLst/>
          </a:prstGeom>
          <a:noFill/>
          <a:ln w="6350">
            <a:solidFill>
              <a:srgbClr val="2D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4297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06  Conclusion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457200"/>
            <a:ext cx="2377440" cy="1554480"/>
          </a:xfrm>
          <a:prstGeom prst="ellipse">
            <a:avLst/>
          </a:prstGeom>
          <a:solidFill>
            <a:srgbClr val="1B3A6B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594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Introduction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et Contexte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457200"/>
            <a:ext cx="2377440" cy="1554480"/>
          </a:xfrm>
          <a:prstGeom prst="ellipse">
            <a:avLst/>
          </a:prstGeom>
          <a:solidFill>
            <a:srgbClr val="2D5FA3">
              <a:alpha val="15000"/>
            </a:srgbClr>
          </a:solidFill>
          <a:ln w="19050">
            <a:solidFill>
              <a:srgbClr val="2D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594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5FA3"/>
                </a:solidFill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Idée du Projet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et Solution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1828800"/>
            <a:ext cx="2377440" cy="1554480"/>
          </a:xfrm>
          <a:prstGeom prst="ellipse">
            <a:avLst/>
          </a:prstGeom>
          <a:solidFill>
            <a:srgbClr val="4A90D9">
              <a:alpha val="15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90D9"/>
                </a:solidFill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Architecture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et Conception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2377440" cy="1554480"/>
          </a:xfrm>
          <a:prstGeom prst="ellipse">
            <a:avLst/>
          </a:prstGeom>
          <a:solidFill>
            <a:srgbClr val="028090">
              <a:alpha val="15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965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217920" y="2468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Réalisation 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Optimisation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3200400"/>
            <a:ext cx="2377440" cy="1554480"/>
          </a:xfrm>
          <a:prstGeom prst="ellipse">
            <a:avLst/>
          </a:prstGeom>
          <a:solidFill>
            <a:srgbClr val="5B7FBF">
              <a:alpha val="15000"/>
            </a:srgbClr>
          </a:solidFill>
          <a:ln w="19050">
            <a:solidFill>
              <a:srgbClr val="5B7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7FBF"/>
                </a:solidFill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8328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Résultats 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Perspectives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200400"/>
            <a:ext cx="2377440" cy="1554480"/>
          </a:xfrm>
          <a:prstGeom prst="ellipse">
            <a:avLst/>
          </a:prstGeom>
          <a:solidFill>
            <a:srgbClr val="64748B">
              <a:alpha val="15000"/>
            </a:srgbClr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</a:rPr>
              <a:t>Conclusion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 et Contexte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Contexte Général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6919" y="539496"/>
            <a:ext cx="484632" cy="434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EF7"/>
                </a:solidFill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67665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B3A6B"/>
                </a:solidFill>
              </a:rPr>
              <a:t>Introduction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82880" y="1036515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123739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3"/>
                </a:solidFill>
              </a:rPr>
              <a:t>Contexte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1338121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Dans le paysage actuel du commerce électronique, la gestion efficace d'un volume croissant de données transactionnelles est un facteur critique de succès. Les plateformes E-Shop génèrent des quantités massives d'informations relatives aux produits, commandes et clients.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633472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6" name="Shape 14"/>
          <p:cNvSpPr/>
          <p:nvPr/>
        </p:nvSpPr>
        <p:spPr>
          <a:xfrm>
            <a:off x="228600" y="2633472"/>
            <a:ext cx="4023360" cy="292608"/>
          </a:xfrm>
          <a:prstGeom prst="roundRect">
            <a:avLst>
              <a:gd name="adj" fmla="val 1562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00" b="1" dirty="0">
                <a:solidFill>
                  <a:schemeClr val="bg1"/>
                </a:solidFill>
              </a:rPr>
              <a:t>La saturation (Scalabilité limitée) :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" y="2962656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900" dirty="0"/>
              <a:t>Le serveur n'est plus assez puissant pour gérer des milliers de clients en même temps. Et acheter un serveur encore plus gros coûte une fortune.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343814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3438144"/>
            <a:ext cx="4023360" cy="292608"/>
          </a:xfrm>
          <a:prstGeom prst="roundRect">
            <a:avLst>
              <a:gd name="adj" fmla="val 1562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381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00" dirty="0">
                <a:solidFill>
                  <a:schemeClr val="bg1"/>
                </a:solidFill>
              </a:rPr>
              <a:t>La panne totale (Point de défaillance)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8328" y="3767328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900" dirty="0"/>
              <a:t>Si ce serveur unique </a:t>
            </a:r>
            <a:r>
              <a:rPr lang="fr-FR" sz="900" dirty="0" err="1"/>
              <a:t>bugue</a:t>
            </a:r>
            <a:r>
              <a:rPr lang="fr-FR" sz="900" dirty="0"/>
              <a:t> ou prend feu, </a:t>
            </a:r>
            <a:r>
              <a:rPr lang="fr-FR" sz="900" b="1" dirty="0"/>
              <a:t>tout le site internet s'éteint</a:t>
            </a:r>
            <a:r>
              <a:rPr lang="fr-FR" sz="900" dirty="0"/>
              <a:t> et l'entreprise perd de l'argent.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424281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4242816"/>
            <a:ext cx="4023360" cy="292608"/>
          </a:xfrm>
          <a:prstGeom prst="roundRect">
            <a:avLst>
              <a:gd name="adj" fmla="val 1562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42428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00" dirty="0">
                <a:solidFill>
                  <a:schemeClr val="bg1"/>
                </a:solidFill>
              </a:rPr>
              <a:t>La lenteur (Latence accrue)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38328" y="4572000"/>
            <a:ext cx="38039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900" dirty="0"/>
              <a:t>Si le serveur est physique à Paris et qu'un client achète depuis le Canada, les données mettent du temps à voyager. Le site sera très lent pour lui.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1170432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5F8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3"/>
                </a:solidFill>
              </a:rPr>
              <a:t>Problématique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15361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E50"/>
                </a:solidFill>
              </a:rPr>
              <a:t>Comment concevoir et implémenter une solution de base de données capable de gérer efficacement un e-shop à forte charge, tout en garantissant la cohérence et la disponibilité des données 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2505456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3"/>
                </a:solidFill>
              </a:rPr>
              <a:t>Objectifs Principaux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834640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28072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Analyser les besoins d'un système EShop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236976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20954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Concevoir un modèle de fragmentation horizontale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639312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611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Développer des procédures PL/SQL robustes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4041648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401421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Mettre en œuvre des mécanismes de synchronisation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4443984"/>
            <a:ext cx="182880" cy="1828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44165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Optimiser les performances des requêtes complexes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779AA-5D48-821E-77D1-C2D85F4FA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DE8855-9351-AB45-76CD-CA6982BA3E0D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7B3B43-9C85-4D76-4478-1938332FE34E}"/>
              </a:ext>
            </a:extLst>
          </p:cNvPr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Idée du Projet et Solution Proposée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F33BC9-C754-4939-2926-8A3CCDEF88C6}"/>
              </a:ext>
            </a:extLst>
          </p:cNvPr>
          <p:cNvSpPr/>
          <p:nvPr/>
        </p:nvSpPr>
        <p:spPr>
          <a:xfrm>
            <a:off x="182880" y="47548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EF7"/>
                </a:solidFill>
              </a:rPr>
              <a:t>02</a:t>
            </a: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A8EE961-772D-B367-49D7-4AEA7152B208}"/>
              </a:ext>
            </a:extLst>
          </p:cNvPr>
          <p:cNvSpPr/>
          <p:nvPr/>
        </p:nvSpPr>
        <p:spPr>
          <a:xfrm>
            <a:off x="777240" y="603765"/>
            <a:ext cx="7772400" cy="30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Solution Proposée</a:t>
            </a:r>
            <a:endParaRPr lang="en-US" sz="1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0D54805-409F-ACD4-7882-82782C495F66}"/>
              </a:ext>
            </a:extLst>
          </p:cNvPr>
          <p:cNvSpPr/>
          <p:nvPr/>
        </p:nvSpPr>
        <p:spPr>
          <a:xfrm>
            <a:off x="237611" y="1051558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BA621D-0AB6-5879-F60E-618F03E0C67F}"/>
              </a:ext>
            </a:extLst>
          </p:cNvPr>
          <p:cNvSpPr/>
          <p:nvPr/>
        </p:nvSpPr>
        <p:spPr>
          <a:xfrm>
            <a:off x="228600" y="1188720"/>
            <a:ext cx="4114800" cy="1188720"/>
          </a:xfrm>
          <a:prstGeom prst="roundRect">
            <a:avLst>
              <a:gd name="adj" fmla="val 7692"/>
            </a:avLst>
          </a:prstGeom>
          <a:solidFill>
            <a:srgbClr val="F5F8FF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CCC8F19-46E7-E9C3-4297-E813E4B13CC5}"/>
              </a:ext>
            </a:extLst>
          </p:cNvPr>
          <p:cNvSpPr/>
          <p:nvPr/>
        </p:nvSpPr>
        <p:spPr>
          <a:xfrm>
            <a:off x="365760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/>
              <a:t>Idee du </a:t>
            </a:r>
            <a:r>
              <a:rPr lang="en-US" sz="1200" b="1" dirty="0" err="1"/>
              <a:t>projet</a:t>
            </a:r>
            <a:endParaRPr lang="en-US" sz="12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20D8DA2-62BE-7D24-E411-34BDFA4CD428}"/>
              </a:ext>
            </a:extLst>
          </p:cNvPr>
          <p:cNvSpPr/>
          <p:nvPr/>
        </p:nvSpPr>
        <p:spPr>
          <a:xfrm>
            <a:off x="365760" y="15727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000" dirty="0"/>
              <a:t>Il s'agit de créer un site de vente en ligne capable de gérer des données massives :</a:t>
            </a:r>
          </a:p>
          <a:p>
            <a:r>
              <a:rPr lang="fr-FR" sz="1000" b="1" dirty="0"/>
              <a:t>Ventes :</a:t>
            </a:r>
            <a:r>
              <a:rPr lang="fr-FR" sz="1000" dirty="0"/>
              <a:t> Gérer des milliers de transactions.</a:t>
            </a:r>
          </a:p>
          <a:p>
            <a:r>
              <a:rPr lang="fr-FR" sz="1000" b="1" dirty="0"/>
              <a:t>Données :</a:t>
            </a:r>
            <a:r>
              <a:rPr lang="fr-FR" sz="1000" dirty="0"/>
              <a:t> Stocker les produits, les commandes et les stocks.</a:t>
            </a:r>
          </a:p>
          <a:p>
            <a:r>
              <a:rPr lang="fr-FR" sz="1000" b="1" dirty="0"/>
              <a:t>Exigence :</a:t>
            </a:r>
            <a:r>
              <a:rPr lang="fr-FR" sz="1000" dirty="0"/>
              <a:t> Le site doit être disponible 24h/24 (haute disponibilité).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2F7C0B6-13D8-B6B0-EF45-2937B14032EA}"/>
              </a:ext>
            </a:extLst>
          </p:cNvPr>
          <p:cNvSpPr/>
          <p:nvPr/>
        </p:nvSpPr>
        <p:spPr>
          <a:xfrm>
            <a:off x="4572000" y="1536192"/>
            <a:ext cx="36576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6741778-BC06-4F40-626B-E786D4C2C2D8}"/>
              </a:ext>
            </a:extLst>
          </p:cNvPr>
          <p:cNvSpPr/>
          <p:nvPr/>
        </p:nvSpPr>
        <p:spPr>
          <a:xfrm>
            <a:off x="4572000" y="15361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A82020F-AFA7-C5E6-60C9-15E6A2E3CB78}"/>
              </a:ext>
            </a:extLst>
          </p:cNvPr>
          <p:cNvSpPr/>
          <p:nvPr/>
        </p:nvSpPr>
        <p:spPr>
          <a:xfrm>
            <a:off x="5074920" y="11887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A01A7FF-B0A2-2EB8-E654-27CE518CFF31}"/>
              </a:ext>
            </a:extLst>
          </p:cNvPr>
          <p:cNvSpPr/>
          <p:nvPr/>
        </p:nvSpPr>
        <p:spPr>
          <a:xfrm>
            <a:off x="521208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 Solution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B10C0B2-57D4-6E44-7359-952116FD4832}"/>
              </a:ext>
            </a:extLst>
          </p:cNvPr>
          <p:cNvSpPr/>
          <p:nvPr/>
        </p:nvSpPr>
        <p:spPr>
          <a:xfrm>
            <a:off x="5212080" y="15727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 de base de données distribuée hétérogène basée sur Oracle Database, PL/SQL et Database Links pour répartir les données sur plusieurs sites logiques.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037527B-B9A6-435A-55B2-A069ECED9361}"/>
              </a:ext>
            </a:extLst>
          </p:cNvPr>
          <p:cNvSpPr/>
          <p:nvPr/>
        </p:nvSpPr>
        <p:spPr>
          <a:xfrm>
            <a:off x="228600" y="2514600"/>
            <a:ext cx="2715768" cy="950976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CFB61950-4E32-0C54-7386-1C59A3FB8C11}"/>
              </a:ext>
            </a:extLst>
          </p:cNvPr>
          <p:cNvSpPr/>
          <p:nvPr/>
        </p:nvSpPr>
        <p:spPr>
          <a:xfrm>
            <a:off x="228600" y="2514600"/>
            <a:ext cx="2715768" cy="292608"/>
          </a:xfrm>
          <a:prstGeom prst="roundRect">
            <a:avLst>
              <a:gd name="adj" fmla="val 1562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4D8F29F-938C-A3FF-D7A5-B4EF747A443D}"/>
              </a:ext>
            </a:extLst>
          </p:cNvPr>
          <p:cNvSpPr/>
          <p:nvPr/>
        </p:nvSpPr>
        <p:spPr>
          <a:xfrm>
            <a:off x="320040" y="251460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Database</a:t>
            </a:r>
            <a:endParaRPr lang="en-US" sz="9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5587E40-7DF5-19B2-C97B-19F342A0C1FC}"/>
              </a:ext>
            </a:extLst>
          </p:cNvPr>
          <p:cNvSpPr/>
          <p:nvPr/>
        </p:nvSpPr>
        <p:spPr>
          <a:xfrm>
            <a:off x="338328" y="2843784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900" dirty="0"/>
              <a:t>C'est le logiciel "moteur" qui stocke les données. Il est choisi parce qu'il est très solide et performant pour les grandes entreprises.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E8455AC-6613-9CA9-8663-28878BA9C1B8}"/>
              </a:ext>
            </a:extLst>
          </p:cNvPr>
          <p:cNvSpPr/>
          <p:nvPr/>
        </p:nvSpPr>
        <p:spPr>
          <a:xfrm>
            <a:off x="3127248" y="2514600"/>
            <a:ext cx="2715768" cy="946404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E3A1E09-E38E-0CC2-4429-7B98B959F75D}"/>
              </a:ext>
            </a:extLst>
          </p:cNvPr>
          <p:cNvSpPr/>
          <p:nvPr/>
        </p:nvSpPr>
        <p:spPr>
          <a:xfrm>
            <a:off x="3127248" y="2514600"/>
            <a:ext cx="2715768" cy="292608"/>
          </a:xfrm>
          <a:prstGeom prst="roundRect">
            <a:avLst>
              <a:gd name="adj" fmla="val 15625"/>
            </a:avLst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2BFB753-029A-2649-E8D4-E5AF01EB5C65}"/>
              </a:ext>
            </a:extLst>
          </p:cNvPr>
          <p:cNvSpPr/>
          <p:nvPr/>
        </p:nvSpPr>
        <p:spPr>
          <a:xfrm>
            <a:off x="3218688" y="251460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PL/SQL</a:t>
            </a:r>
            <a:endParaRPr lang="en-US" sz="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4453F9D-B370-EBCF-56C4-5765FA4468E7}"/>
              </a:ext>
            </a:extLst>
          </p:cNvPr>
          <p:cNvSpPr/>
          <p:nvPr/>
        </p:nvSpPr>
        <p:spPr>
          <a:xfrm>
            <a:off x="3236976" y="2843784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900" dirty="0"/>
              <a:t>C'est le langage de programmation à l'intérieur de la base de données. Il sert à créer des "automatismes" (les triggers).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6883271-0865-4CAF-132D-667A38866E4F}"/>
              </a:ext>
            </a:extLst>
          </p:cNvPr>
          <p:cNvSpPr/>
          <p:nvPr/>
        </p:nvSpPr>
        <p:spPr>
          <a:xfrm>
            <a:off x="6025896" y="2514599"/>
            <a:ext cx="2715768" cy="941573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3BB8CAE-F38C-FD1D-194E-12885396CDA0}"/>
              </a:ext>
            </a:extLst>
          </p:cNvPr>
          <p:cNvSpPr/>
          <p:nvPr/>
        </p:nvSpPr>
        <p:spPr>
          <a:xfrm>
            <a:off x="6025896" y="2514600"/>
            <a:ext cx="2715768" cy="292608"/>
          </a:xfrm>
          <a:prstGeom prst="roundRect">
            <a:avLst>
              <a:gd name="adj" fmla="val 15625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6865F51-2B1A-D212-A83E-05FEA38C9595}"/>
              </a:ext>
            </a:extLst>
          </p:cNvPr>
          <p:cNvSpPr/>
          <p:nvPr/>
        </p:nvSpPr>
        <p:spPr>
          <a:xfrm>
            <a:off x="6117336" y="2514600"/>
            <a:ext cx="2532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 Links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6DAC2C3-4D89-4EE1-BE56-9F355CABB524}"/>
              </a:ext>
            </a:extLst>
          </p:cNvPr>
          <p:cNvSpPr/>
          <p:nvPr/>
        </p:nvSpPr>
        <p:spPr>
          <a:xfrm>
            <a:off x="6135624" y="2843784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sz="900" dirty="0"/>
              <a:t>C'est le "pont virtuel" ou le câble invisible qui relie les serveurs entre eux. Grâce à cela, un serveur peut aller lire ou écrire des informations sur un autre serveur distant très facilement.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169044FA-7807-2AA3-63AA-C7D38A76CC2C}"/>
              </a:ext>
            </a:extLst>
          </p:cNvPr>
          <p:cNvSpPr/>
          <p:nvPr/>
        </p:nvSpPr>
        <p:spPr>
          <a:xfrm>
            <a:off x="182880" y="3858768"/>
            <a:ext cx="8686800" cy="868680"/>
          </a:xfrm>
          <a:prstGeom prst="roundRect">
            <a:avLst>
              <a:gd name="adj" fmla="val 10526"/>
            </a:avLst>
          </a:prstGeom>
          <a:solidFill>
            <a:srgbClr val="4A90D9">
              <a:alpha val="10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sz="1000" b="1" dirty="0"/>
          </a:p>
          <a:p>
            <a:r>
              <a:rPr lang="fr-FR" sz="1000" b="1" dirty="0"/>
              <a:t>Améliorer la scalabilité :</a:t>
            </a:r>
            <a:r>
              <a:rPr lang="fr-FR" sz="1000" dirty="0"/>
              <a:t> On peut ajouter des serveurs facilement si le nombre de clients augmente.</a:t>
            </a:r>
          </a:p>
          <a:p>
            <a:r>
              <a:rPr lang="fr-FR" sz="1000" b="1" dirty="0"/>
              <a:t>Éliminer les "goulots d'étranglement" :</a:t>
            </a:r>
            <a:r>
              <a:rPr lang="fr-FR" sz="1000" dirty="0"/>
              <a:t> Éviter qu'une seule machine soit surchargée alors que les autres ne font rien.</a:t>
            </a:r>
          </a:p>
          <a:p>
            <a:r>
              <a:rPr lang="fr-FR" sz="1000" b="1" dirty="0"/>
              <a:t>Supprimer les points de défaillance :</a:t>
            </a:r>
            <a:r>
              <a:rPr lang="fr-FR" sz="1000" dirty="0"/>
              <a:t> Si un serveur tombe en panne, les autres prennent le relais. Le site ne s'arrête pas.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8E99105-7F05-9147-8E14-05D45AA79ED5}"/>
              </a:ext>
            </a:extLst>
          </p:cNvPr>
          <p:cNvSpPr/>
          <p:nvPr/>
        </p:nvSpPr>
        <p:spPr>
          <a:xfrm>
            <a:off x="45720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FA3"/>
                </a:solidFill>
              </a:rPr>
              <a:t>Objectif Principal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8FEEFF8C-1F57-9E01-BEFC-5ADE804D9E12}"/>
              </a:ext>
            </a:extLst>
          </p:cNvPr>
          <p:cNvSpPr/>
          <p:nvPr/>
        </p:nvSpPr>
        <p:spPr>
          <a:xfrm>
            <a:off x="457200" y="41330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FA3042ED-29CB-685E-68DC-BF4011C26FFD}"/>
              </a:ext>
            </a:extLst>
          </p:cNvPr>
          <p:cNvSpPr/>
          <p:nvPr/>
        </p:nvSpPr>
        <p:spPr>
          <a:xfrm>
            <a:off x="3474720" y="51663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2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 et Conception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 w="6350">
            <a:solidFill>
              <a:srgbClr val="2D5F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Architecture Générale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747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Fragmentation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2179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Cohérence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82880" y="392551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EF7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747367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170432"/>
            <a:ext cx="8595360" cy="3703320"/>
          </a:xfrm>
          <a:prstGeom prst="roundRect">
            <a:avLst>
              <a:gd name="adj" fmla="val 3704"/>
            </a:avLst>
          </a:prstGeom>
          <a:solidFill>
            <a:srgbClr val="F0F5FF"/>
          </a:solidFill>
          <a:ln w="12700">
            <a:solidFill>
              <a:srgbClr val="4A90D9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5720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Réseau Virtuel Docker  •  oracle-global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55448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0896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BDD Source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08960" y="1847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BDDVente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221284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ADCFC"/>
                </a:solidFill>
              </a:rPr>
              <a:t>oracle-global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 flipV="1">
            <a:off x="1691640" y="2194560"/>
            <a:ext cx="1417320" cy="512064"/>
          </a:xfrm>
          <a:prstGeom prst="line">
            <a:avLst/>
          </a:prstGeom>
          <a:noFill/>
          <a:ln w="19050">
            <a:solidFill>
              <a:srgbClr val="4A90D9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5720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</a:rPr>
              <a:t>DB Link (@eshop_link)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035040" y="2194560"/>
            <a:ext cx="1142649" cy="512064"/>
          </a:xfrm>
          <a:prstGeom prst="line">
            <a:avLst/>
          </a:prstGeom>
          <a:noFill/>
          <a:ln w="19050">
            <a:solidFill>
              <a:srgbClr val="4A90D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49224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</a:rPr>
              <a:t>DB Link (@eshop_link)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2D5FA3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74320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614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Site 1 — Grossistes  (oracle-site1)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3145536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Fragment : LigneCommandes1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Senario1: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Critère : </a:t>
            </a:r>
            <a:r>
              <a:rPr lang="en-US" sz="900" dirty="0" err="1">
                <a:solidFill>
                  <a:srgbClr val="2C3E50"/>
                </a:solidFill>
              </a:rPr>
              <a:t>idCategorie</a:t>
            </a:r>
            <a:r>
              <a:rPr lang="en-US" sz="900" dirty="0">
                <a:solidFill>
                  <a:srgbClr val="2C3E50"/>
                </a:solidFill>
              </a:rPr>
              <a:t>=50,Quantité &gt; 100 (Gros Volume)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Tables : Clients1, Commandes1, Produits1</a:t>
            </a:r>
          </a:p>
          <a:p>
            <a:r>
              <a:rPr lang="en-US" sz="900" b="1" dirty="0">
                <a:solidFill>
                  <a:srgbClr val="1B3A6B"/>
                </a:solidFill>
              </a:rPr>
              <a:t>Senario2:</a:t>
            </a:r>
            <a:endParaRPr lang="en-US" sz="900" dirty="0"/>
          </a:p>
          <a:p>
            <a:r>
              <a:rPr lang="en-US" sz="900" dirty="0" err="1">
                <a:solidFill>
                  <a:srgbClr val="2C3E50"/>
                </a:solidFill>
              </a:rPr>
              <a:t>Critère</a:t>
            </a:r>
            <a:r>
              <a:rPr lang="en-US" sz="900" dirty="0">
                <a:solidFill>
                  <a:srgbClr val="2C3E50"/>
                </a:solidFill>
              </a:rPr>
              <a:t> : </a:t>
            </a:r>
            <a:r>
              <a:rPr lang="en-US" sz="900" dirty="0" err="1">
                <a:solidFill>
                  <a:srgbClr val="2C3E50"/>
                </a:solidFill>
              </a:rPr>
              <a:t>Quantité</a:t>
            </a:r>
            <a:r>
              <a:rPr lang="en-US" sz="900" dirty="0">
                <a:solidFill>
                  <a:srgbClr val="2C3E50"/>
                </a:solidFill>
              </a:rPr>
              <a:t> ≥ 100 (Gros Volume)</a:t>
            </a:r>
            <a:endParaRPr lang="en-US" sz="900" dirty="0"/>
          </a:p>
          <a:p>
            <a:r>
              <a:rPr lang="en-US" sz="900" dirty="0">
                <a:solidFill>
                  <a:srgbClr val="64748B"/>
                </a:solidFill>
              </a:rPr>
              <a:t>Tables : Clients1, Commandes1, Produits1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2D5FA3"/>
                </a:solidFill>
              </a:rPr>
              <a:t>Procédures PL/SQL Site 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20640" y="2743200"/>
            <a:ext cx="3657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9" name="Shape 27"/>
          <p:cNvSpPr/>
          <p:nvPr/>
        </p:nvSpPr>
        <p:spPr>
          <a:xfrm>
            <a:off x="5120640" y="274320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27614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Site 2 — Détail  (oracle-site2)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57800" y="3145536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Fragment : LigneCommandes2</a:t>
            </a:r>
          </a:p>
          <a:p>
            <a:r>
              <a:rPr lang="en-US" sz="900" b="1" dirty="0">
                <a:solidFill>
                  <a:srgbClr val="1B3A6B"/>
                </a:solidFill>
              </a:rPr>
              <a:t>Senario1:</a:t>
            </a:r>
            <a:endParaRPr lang="en-US" sz="900" dirty="0"/>
          </a:p>
          <a:p>
            <a:r>
              <a:rPr lang="en-US" sz="900" dirty="0">
                <a:solidFill>
                  <a:srgbClr val="2C3E50"/>
                </a:solidFill>
              </a:rPr>
              <a:t>Critère : </a:t>
            </a:r>
            <a:r>
              <a:rPr lang="en-US" sz="900" dirty="0" err="1">
                <a:solidFill>
                  <a:srgbClr val="2C3E50"/>
                </a:solidFill>
              </a:rPr>
              <a:t>idCategorie</a:t>
            </a:r>
            <a:r>
              <a:rPr lang="en-US" sz="900" dirty="0">
                <a:solidFill>
                  <a:srgbClr val="2C3E50"/>
                </a:solidFill>
              </a:rPr>
              <a:t>=35 ,</a:t>
            </a:r>
            <a:r>
              <a:rPr lang="en-US" sz="900" dirty="0" err="1">
                <a:solidFill>
                  <a:srgbClr val="2C3E50"/>
                </a:solidFill>
              </a:rPr>
              <a:t>Quantité</a:t>
            </a:r>
            <a:r>
              <a:rPr lang="en-US" sz="900" dirty="0">
                <a:solidFill>
                  <a:srgbClr val="2C3E50"/>
                </a:solidFill>
              </a:rPr>
              <a:t> 50 (Petit Volume)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Tables : Clients2, Commandes2, Produits2</a:t>
            </a:r>
          </a:p>
          <a:p>
            <a:r>
              <a:rPr lang="en-US" sz="900" b="1" dirty="0">
                <a:solidFill>
                  <a:srgbClr val="1B3A6B"/>
                </a:solidFill>
              </a:rPr>
              <a:t>Senario2:</a:t>
            </a:r>
            <a:endParaRPr lang="en-US" sz="900" dirty="0"/>
          </a:p>
          <a:p>
            <a:r>
              <a:rPr lang="en-US" sz="900" dirty="0" err="1">
                <a:solidFill>
                  <a:srgbClr val="2C3E50"/>
                </a:solidFill>
              </a:rPr>
              <a:t>Critère</a:t>
            </a:r>
            <a:r>
              <a:rPr lang="en-US" sz="900" dirty="0">
                <a:solidFill>
                  <a:srgbClr val="2C3E50"/>
                </a:solidFill>
              </a:rPr>
              <a:t> : </a:t>
            </a:r>
            <a:r>
              <a:rPr lang="en-US" sz="900" dirty="0" err="1">
                <a:solidFill>
                  <a:srgbClr val="2C3E50"/>
                </a:solidFill>
              </a:rPr>
              <a:t>Quantité</a:t>
            </a:r>
            <a:r>
              <a:rPr lang="en-US" sz="900" dirty="0">
                <a:solidFill>
                  <a:srgbClr val="2C3E50"/>
                </a:solidFill>
              </a:rPr>
              <a:t> &lt; 100 (Petit Volume)</a:t>
            </a:r>
            <a:endParaRPr lang="en-US" sz="900" dirty="0"/>
          </a:p>
          <a:p>
            <a:r>
              <a:rPr lang="en-US" sz="900" dirty="0">
                <a:solidFill>
                  <a:srgbClr val="64748B"/>
                </a:solidFill>
              </a:rPr>
              <a:t>Tables : Clients2, Commandes2, Produits2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028090"/>
                </a:solidFill>
              </a:rPr>
              <a:t>Procédures PL/SQL Site 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 et Conception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Architecture Générale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747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 w="6350">
            <a:solidFill>
              <a:srgbClr val="2D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Fragmentation Horizontale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2179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Cohérence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170432"/>
            <a:ext cx="8686800" cy="640080"/>
          </a:xfrm>
          <a:prstGeom prst="roundRect">
            <a:avLst>
              <a:gd name="adj" fmla="val 11429"/>
            </a:avLst>
          </a:prstGeom>
          <a:solidFill>
            <a:srgbClr val="F5F8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435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</a:rPr>
              <a:t>Principe :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124358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Division de la table LigneCommandes (la plus critique en volume) en sous-ensembles selon des critères métier, stockés sur des sites distincts pour optimiser les performances locales.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3"/>
                </a:solidFill>
              </a:rPr>
              <a:t>Scénario 1 : Fragmentation par Catégorie et Quantité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2402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4028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40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Site 1 — Fragment R1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" y="2569464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σ (LigneCommandes) où idCategorie = 50 ET quantité &gt; 100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2402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8EEF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24028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40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Site 2 — Fragment R2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2569464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σ (LigneCommandes) où idCategorie = 35 ET quantité &gt; 50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32186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3"/>
                </a:solidFill>
              </a:rPr>
              <a:t>Scénario 2 : Fragmentation par Volume de Vente  (Scénario Principal)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566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Site 1 — Grossistes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0D9"/>
                </a:solidFill>
              </a:rPr>
              <a:t>Quantité ≥ 100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4251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Entrepôt Central — Gros volumes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</a:rPr>
              <a:t>LigneCommandes1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3639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Site 2 — Détail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FAF8"/>
                </a:solidFill>
              </a:rPr>
              <a:t>Quantité &lt; 100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42519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FFFFF"/>
                </a:solidFill>
              </a:rPr>
              <a:t>Magasins de Proximité — Petits volumes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FFFFF"/>
                </a:solidFill>
              </a:rPr>
              <a:t>LigneCommandes2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Architecture et Conception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Architecture Générale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4747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</a:rPr>
              <a:t>Fragmentation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217920" y="530352"/>
            <a:ext cx="2633472" cy="256032"/>
          </a:xfrm>
          <a:prstGeom prst="roundRect">
            <a:avLst>
              <a:gd name="adj" fmla="val 17857"/>
            </a:avLst>
          </a:prstGeom>
          <a:solidFill>
            <a:srgbClr val="4A90D9"/>
          </a:solidFill>
          <a:ln w="6350">
            <a:solidFill>
              <a:srgbClr val="2D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Cohérence et Synchronisation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919966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9692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A3"/>
                </a:solidFill>
              </a:rPr>
              <a:t>Procédures Stockées PL/SQL (CRUD sur fragments)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" y="1508760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8EEF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50876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087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INSERTligne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1554480"/>
            <a:ext cx="6793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Insère une ligne de commande dans le fragment approprié. Vérifie et importe les dépendances (Produits, Commandes, Clients) depuis BDDVente via Database Link si absentes localement.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258568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8EEF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258568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5856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DELETEligne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2304288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Suppression en cascade manuelle : supprime la ligne, puis la commande parent si vide, puis le client si sans commandes. Plus fin que ON DELETE CASCADE automatique.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008376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E8EEF7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08376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00837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UPDATEligne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57400" y="30540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Mise à jour de idproduit, quantite et remise. Gère l'import de nouveaux produits et la suppression d'anciens produits inutilisés dans le fragment.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3794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A3"/>
                </a:solidFill>
              </a:rPr>
              <a:t>Triggers de Synchronisation (BDD Globale)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28600" y="411480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1B3A6B">
              <a:alpha val="8000"/>
            </a:srgbClr>
          </a:solidFill>
          <a:ln w="1016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SYC_INSERT_LIGNE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7472" y="4425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Route l'insertion → Site1 (qté≥100) ou Site2 (qté&lt;100)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72968" y="411480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1B3A6B">
              <a:alpha val="8000"/>
            </a:srgbClr>
          </a:solidFill>
          <a:ln w="1016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3" name="Text 31"/>
          <p:cNvSpPr/>
          <p:nvPr/>
        </p:nvSpPr>
        <p:spPr>
          <a:xfrm>
            <a:off x="3291840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SYC_DELETE_LIGNE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91840" y="4425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Réincrémente le stock et propage la suppression au bon site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17336" y="411480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1B3A6B">
              <a:alpha val="8000"/>
            </a:srgbClr>
          </a:solidFill>
          <a:ln w="10160">
            <a:solidFill>
              <a:srgbClr val="1B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4160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syc_update_line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6208" y="4425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Gère la migration : suppression sur l'ancien site 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Réalisation, Tests et Optimisation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521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EF7"/>
                </a:solidFill>
              </a:rPr>
              <a:t>04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472179"/>
            <a:ext cx="7772400" cy="59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Réalisation et Optimisation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170432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4" name="Text 12"/>
          <p:cNvSpPr/>
          <p:nvPr/>
        </p:nvSpPr>
        <p:spPr>
          <a:xfrm>
            <a:off x="36576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Database Link — Connectivité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5087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LINK </a:t>
            </a:r>
            <a:r>
              <a:rPr lang="en-US" sz="750" dirty="0" err="1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eshop_link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CONNECT TO BDDVente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IDENTIFIED BY "1111"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'(DESCRIPTION=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(ADDRESS=(PROTOCOL=TCP)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(HOST=oracle-tp1)(PORT=1521))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(CONNECT_DATA=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(SERVICE_NAME=XEPDB1)))';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0" y="1170432"/>
            <a:ext cx="43434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216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Création du Fragment produits1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09160" y="15087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produits1 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DISTINCT </a:t>
            </a:r>
            <a:r>
              <a:rPr lang="en-US" sz="1000" dirty="0" err="1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p.IDPRODUIT,p.DESIGNATION</a:t>
            </a: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 err="1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p.IDCATEG,p.PRIXUNITAIRE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</a:t>
            </a:r>
            <a:r>
              <a:rPr lang="en-US" sz="1000" dirty="0" err="1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BDDVente.produits@eshop_link</a:t>
            </a: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 err="1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p,BDDVente.Lignecommandes@eshop_link</a:t>
            </a: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p.idproduit = </a:t>
            </a:r>
            <a:r>
              <a:rPr lang="en-US" sz="1000" dirty="0" err="1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lc.idproduit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p.idcateg = 50 AND lc.quantite &gt; 100);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" y="2765231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5FA3"/>
                </a:solidFill>
              </a:rPr>
              <a:t>Tests et Validation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8600" y="3191256"/>
            <a:ext cx="228600" cy="228600"/>
          </a:xfrm>
          <a:prstGeom prst="ellipse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520" y="319721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Tests Unitaires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3491351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INSERTligne, DELETEligne, UPDATEligne — cas nominaux, limites et erreurs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902831"/>
            <a:ext cx="228600" cy="228600"/>
          </a:xfrm>
          <a:prstGeom prst="ellipse">
            <a:avLst/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875399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Tests d'Intégration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" y="4177151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Cohérence après opérations successives sur fragments (insertion → consultation → suppression)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0" y="26974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5FA3"/>
                </a:solidFill>
              </a:rPr>
              <a:t>Optimisation des Requêtes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017520"/>
            <a:ext cx="4343400" cy="594360"/>
          </a:xfrm>
          <a:prstGeom prst="roundRect">
            <a:avLst>
              <a:gd name="adj" fmla="val 12308"/>
            </a:avLst>
          </a:prstGeom>
          <a:solidFill>
            <a:srgbClr val="F5F8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072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6B"/>
                </a:solidFill>
              </a:rPr>
              <a:t>EXPLAIN PLAN — Diagnostic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9160" y="32735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C3E50"/>
                </a:solidFill>
              </a:rPr>
              <a:t>Révèle les TABLE ACCESS FULL coûteux sur la table Commandes lors du filtrage par date → besoin d'indexation.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3685032"/>
            <a:ext cx="4343400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730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</a:rPr>
              <a:t>Index Stratégiques Créés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398678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Index sur la fonction EXTRACT pour la date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idx_cmd_date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commandes (EXTRACT(YEAR FROM datecommande));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Index sur la clé de jointure client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idx_cmd_client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8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commandes (idclient);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HeaderTitle"/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</a:rPr>
              <a:t>Optimisation des Requêtes</a:t>
            </a:r>
          </a:p>
        </p:txBody>
      </p:sp>
      <p:sp>
        <p:nvSpPr>
          <p:cNvPr id="4" name="Badge"/>
          <p:cNvSpPr/>
          <p:nvPr/>
        </p:nvSpPr>
        <p:spPr>
          <a:xfrm>
            <a:off x="256032" y="521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E8EEF7"/>
                </a:solidFill>
              </a:rPr>
              <a:t>04</a:t>
            </a:r>
          </a:p>
        </p:txBody>
      </p:sp>
      <p:sp>
        <p:nvSpPr>
          <p:cNvPr id="5" name="Subtitle"/>
          <p:cNvSpPr/>
          <p:nvPr/>
        </p:nvSpPr>
        <p:spPr>
          <a:xfrm>
            <a:off x="822960" y="472179"/>
            <a:ext cx="7772400" cy="59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dirty="0">
                <a:solidFill>
                  <a:srgbClr val="1B3A6B"/>
                </a:solidFill>
              </a:rPr>
              <a:t>Analyse EXPLAIN PLAN &amp; Indexation</a:t>
            </a:r>
          </a:p>
        </p:txBody>
      </p:sp>
      <p:sp>
        <p:nvSpPr>
          <p:cNvPr id="6" name="Divider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7" name="LeftBox"/>
          <p:cNvSpPr/>
          <p:nvPr/>
        </p:nvSpPr>
        <p:spPr>
          <a:xfrm>
            <a:off x="228600" y="1170432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LeftTitle"/>
          <p:cNvSpPr/>
          <p:nvPr/>
        </p:nvSpPr>
        <p:spPr>
          <a:xfrm>
            <a:off x="365760" y="12161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rgbClr val="CADCFC"/>
                </a:solidFill>
              </a:rPr>
              <a:t>Requête analysée (EXPLAIN PLAN)</a:t>
            </a:r>
          </a:p>
        </p:txBody>
      </p:sp>
      <p:sp>
        <p:nvSpPr>
          <p:cNvPr id="9" name="LeftCode"/>
          <p:cNvSpPr/>
          <p:nvPr/>
        </p:nvSpPr>
        <p:spPr>
          <a:xfrm>
            <a:off x="365760" y="150876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SELECT c.idclient,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  COUNT(cm.idcommande) NbCommandes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FROM clients c, commandes cm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WHERE c.idclient = cm.idclient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AND EXTRACT(YEAR FROM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  cm.datecommande) = 26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GROUP BY c.idclient;</a:t>
            </a:r>
          </a:p>
        </p:txBody>
      </p:sp>
      <p:sp>
        <p:nvSpPr>
          <p:cNvPr id="10" name="RightBox"/>
          <p:cNvSpPr/>
          <p:nvPr/>
        </p:nvSpPr>
        <p:spPr>
          <a:xfrm>
            <a:off x="4572000" y="1170432"/>
            <a:ext cx="434340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RightTitle"/>
          <p:cNvSpPr/>
          <p:nvPr/>
        </p:nvSpPr>
        <p:spPr>
          <a:xfrm>
            <a:off x="4709160" y="1216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b="1" dirty="0">
                <a:solidFill>
                  <a:srgbClr val="CADCFC"/>
                </a:solidFill>
              </a:rPr>
              <a:t>Index Stratégiques Créés</a:t>
            </a:r>
          </a:p>
        </p:txBody>
      </p:sp>
      <p:sp>
        <p:nvSpPr>
          <p:cNvPr id="12" name="RightCode"/>
          <p:cNvSpPr/>
          <p:nvPr/>
        </p:nvSpPr>
        <p:spPr>
          <a:xfrm>
            <a:off x="4709160" y="15087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-- Index 1: Filtrage par année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CREATE INDEX idx_cmd_date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  ON commandes (EXTRACT(YEAR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     FROM datecommande));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 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-- Index 2: Clé de jointure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CREATE INDEX idx_cmd_client</a:t>
            </a:r>
          </a:p>
          <a:p>
            <a:pPr marL="0" indent="0">
              <a:buNone/>
            </a:pPr>
            <a:r>
              <a:rPr lang="fr-FR" sz="750" dirty="0">
                <a:solidFill>
                  <a:srgbClr val="98C4FF"/>
                </a:solidFill>
                <a:latin typeface="Courier New" pitchFamily="34" charset="0"/>
              </a:rPr>
              <a:t>  ON commandes (idclient);</a:t>
            </a:r>
          </a:p>
        </p:txBody>
      </p:sp>
      <p:sp>
        <p:nvSpPr>
          <p:cNvPr id="13" name="ImpactTitle"/>
          <p:cNvSpPr/>
          <p:nvPr/>
        </p:nvSpPr>
        <p:spPr>
          <a:xfrm>
            <a:off x="228600" y="2765231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rgbClr val="2D5FA3"/>
                </a:solidFill>
              </a:rPr>
              <a:t>Impact sur les Performances</a:t>
            </a:r>
          </a:p>
        </p:txBody>
      </p:sp>
      <p:sp>
        <p:nvSpPr>
          <p:cNvPr id="14" name="AvantBox"/>
          <p:cNvSpPr/>
          <p:nvPr/>
        </p:nvSpPr>
        <p:spPr>
          <a:xfrm>
            <a:off x="228600" y="3108960"/>
            <a:ext cx="3977640" cy="132588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9050">
            <a:solidFill>
              <a:srgbClr val="E55050"/>
            </a:solidFill>
            <a:prstDash val="solid"/>
          </a:ln>
        </p:spPr>
      </p:sp>
      <p:sp>
        <p:nvSpPr>
          <p:cNvPr id="15" name="AvantContent"/>
          <p:cNvSpPr/>
          <p:nvPr/>
        </p:nvSpPr>
        <p:spPr>
          <a:xfrm>
            <a:off x="365760" y="315468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dirty="0">
                <a:solidFill>
                  <a:srgbClr val="E55050"/>
                </a:solidFill>
              </a:rPr>
              <a:t>⚠ Avant : TABLE ACCESS FULL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2C3E50"/>
                </a:solidFill>
              </a:rPr>
              <a:t>Parcours complet de la table Commandes pour chaque filtrage par date.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2C3E50"/>
                </a:solidFill>
              </a:rPr>
              <a:t>Coût élevé, latence importante surtout en contexte distribué.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E55050"/>
                </a:solidFill>
                <a:latin typeface="Courier New" pitchFamily="34" charset="0"/>
              </a:rPr>
              <a:t>Cost = 100%</a:t>
            </a:r>
          </a:p>
        </p:txBody>
      </p:sp>
      <p:sp>
        <p:nvSpPr>
          <p:cNvPr id="16" name="Arrow"/>
          <p:cNvSpPr/>
          <p:nvPr/>
        </p:nvSpPr>
        <p:spPr>
          <a:xfrm>
            <a:off x="4297200" y="361104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</p:sp>
      <p:sp>
        <p:nvSpPr>
          <p:cNvPr id="17" name="ApresBox"/>
          <p:cNvSpPr/>
          <p:nvPr/>
        </p:nvSpPr>
        <p:spPr>
          <a:xfrm>
            <a:off x="4937760" y="310896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 w="19050">
            <a:solidFill>
              <a:srgbClr val="2D9B48"/>
            </a:solidFill>
            <a:prstDash val="solid"/>
          </a:ln>
        </p:spPr>
      </p:sp>
      <p:sp>
        <p:nvSpPr>
          <p:cNvPr id="18" name="ApresContent"/>
          <p:cNvSpPr/>
          <p:nvPr/>
        </p:nvSpPr>
        <p:spPr>
          <a:xfrm>
            <a:off x="5074920" y="31546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00" b="1" dirty="0">
                <a:solidFill>
                  <a:srgbClr val="2D9B48"/>
                </a:solidFill>
              </a:rPr>
              <a:t>✓ Après : INDEX RANGE SCAN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2C3E50"/>
                </a:solidFill>
              </a:rPr>
              <a:t>L'optimiseur utilise idx_cmd_date et idx_cmd_client.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2C3E50"/>
                </a:solidFill>
              </a:rPr>
              <a:t>Réduction drastique des lectures physiques et du temps de réponse.</a:t>
            </a:r>
          </a:p>
          <a:p>
            <a:pPr marL="0" indent="0">
              <a:buNone/>
            </a:pPr>
            <a:r>
              <a:rPr lang="fr-FR" sz="850" dirty="0">
                <a:solidFill>
                  <a:srgbClr val="2D9B48"/>
                </a:solidFill>
                <a:latin typeface="Courier New" pitchFamily="34" charset="0"/>
              </a:rPr>
              <a:t>Cost = très faible ↓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A5236502-2861-006A-BF3B-370448CA9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0" y="3325225"/>
            <a:ext cx="4023360" cy="175122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EC1BC05C-B2D0-94A3-6448-4B0141C2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02567"/>
            <a:ext cx="4524935" cy="1840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HeaderTitle"/>
          <p:cNvSpPr/>
          <p:nvPr/>
        </p:nvSpPr>
        <p:spPr>
          <a:xfrm>
            <a:off x="182880" y="0"/>
            <a:ext cx="600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</a:rPr>
              <a:t>Requêtes Distribuées et Agrégations</a:t>
            </a:r>
          </a:p>
        </p:txBody>
      </p:sp>
      <p:sp>
        <p:nvSpPr>
          <p:cNvPr id="4" name="Badge"/>
          <p:cNvSpPr/>
          <p:nvPr/>
        </p:nvSpPr>
        <p:spPr>
          <a:xfrm>
            <a:off x="256032" y="521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dirty="0">
                <a:solidFill>
                  <a:srgbClr val="E8EEF7"/>
                </a:solidFill>
              </a:rPr>
              <a:t>04</a:t>
            </a:r>
          </a:p>
        </p:txBody>
      </p:sp>
      <p:sp>
        <p:nvSpPr>
          <p:cNvPr id="5" name="Subtitle"/>
          <p:cNvSpPr/>
          <p:nvPr/>
        </p:nvSpPr>
        <p:spPr>
          <a:xfrm>
            <a:off x="822960" y="472179"/>
            <a:ext cx="7772400" cy="59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800" b="1" dirty="0">
                <a:solidFill>
                  <a:srgbClr val="1B3A6B"/>
                </a:solidFill>
              </a:rPr>
              <a:t>CA Total par Catégorie — 2026</a:t>
            </a:r>
          </a:p>
        </p:txBody>
      </p:sp>
      <p:sp>
        <p:nvSpPr>
          <p:cNvPr id="6" name="Divider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7" name="Intro"/>
          <p:cNvSpPr/>
          <p:nvPr/>
        </p:nvSpPr>
        <p:spPr>
          <a:xfrm>
            <a:off x="228600" y="11408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dirty="0">
                <a:solidFill>
                  <a:srgbClr val="2C3E50"/>
                </a:solidFill>
              </a:rPr>
              <a:t>Les sommes partielles sont déléguées aux sites distants via UNION ALL, réduisant le volume de données transférées vers le site principal.</a:t>
            </a:r>
          </a:p>
        </p:txBody>
      </p:sp>
      <p:sp>
        <p:nvSpPr>
          <p:cNvPr id="8" name="CodeBox"/>
          <p:cNvSpPr/>
          <p:nvPr/>
        </p:nvSpPr>
        <p:spPr>
          <a:xfrm>
            <a:off x="228600" y="1416240"/>
            <a:ext cx="8686800" cy="30186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CodeContent"/>
          <p:cNvSpPr/>
          <p:nvPr/>
        </p:nvSpPr>
        <p:spPr>
          <a:xfrm>
            <a:off x="365760" y="1461960"/>
            <a:ext cx="8412480" cy="292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800" dirty="0">
                <a:solidFill>
                  <a:srgbClr val="CADCFC"/>
                </a:solidFill>
                <a:latin typeface="Courier New" pitchFamily="34" charset="0"/>
              </a:rPr>
              <a:t>SELECT categorie, SUM(CA_Partiel) AS CA_TOTAL_2026 FROM (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7EC8E3"/>
                </a:solidFill>
                <a:latin typeface="Courier New" pitchFamily="34" charset="0"/>
              </a:rPr>
              <a:t>  -- === Site 1 : Grossistes (Quantite &gt;= 100) ===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SELECT p.idcateg AS categorie,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  SUM(p.prixunitaire * lc.quantite * (1 - lc.remise/100)) AS CA_Partiel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FROM Site1UserS2.produits1@site1_link p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JOIN Site1UserS2.lignecommandes1@site1_link lc ON p.idproduit=lc.idproduit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JOIN Site1UserS2.commandes1@site1_link c ON lc.idcommande=c.idcommande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WHERE EXTRACT(YEAR FROM c.datecommande) = 26 GROUP BY p.idcateg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CADCFC"/>
                </a:solidFill>
                <a:latin typeface="Courier New" pitchFamily="34" charset="0"/>
              </a:rPr>
              <a:t>  UNION ALL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7EC8E3"/>
                </a:solidFill>
                <a:latin typeface="Courier New" pitchFamily="34" charset="0"/>
              </a:rPr>
              <a:t>  -- === Site 2 : Détail (Quantite &lt; 100) ===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SELECT p.idcateg AS categorie,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  SUM(p.prixunitaire * lc.quantite * (1 - lc.remise/100)) AS CA_Partiel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FROM Site2UserS2.produits2@site2_link p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JOIN Site2UserS2.lignecommandes2@site2_link lc ON p.idproduit=lc.idproduit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JOIN Site2UserS2.commandes2@site2_link c ON lc.idcommande=c.idcommande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98C4FF"/>
                </a:solidFill>
                <a:latin typeface="Courier New" pitchFamily="34" charset="0"/>
              </a:rPr>
              <a:t>  WHERE EXTRACT(YEAR FROM c.datecommande) = 26 GROUP BY p.idcateg</a:t>
            </a:r>
          </a:p>
          <a:p>
            <a:pPr marL="0" indent="0">
              <a:buNone/>
            </a:pPr>
            <a:r>
              <a:rPr lang="fr-FR" sz="800" dirty="0">
                <a:solidFill>
                  <a:srgbClr val="CADCFC"/>
                </a:solidFill>
                <a:latin typeface="Courier New" pitchFamily="34" charset="0"/>
              </a:rPr>
              <a:t>) GROUP BY categorie;</a:t>
            </a:r>
          </a:p>
        </p:txBody>
      </p:sp>
      <p:sp>
        <p:nvSpPr>
          <p:cNvPr id="10" name="KeyPoint"/>
          <p:cNvSpPr/>
          <p:nvPr/>
        </p:nvSpPr>
        <p:spPr>
          <a:xfrm>
            <a:off x="228600" y="4526280"/>
            <a:ext cx="8686800" cy="274320"/>
          </a:xfrm>
          <a:prstGeom prst="roundRect">
            <a:avLst>
              <a:gd name="adj" fmla="val 15000"/>
            </a:avLst>
          </a:prstGeom>
          <a:solidFill>
            <a:srgbClr val="E8EEF7"/>
          </a:solidFill>
          <a:ln w="12700">
            <a:solidFill>
              <a:srgbClr val="2D5FA3"/>
            </a:solidFill>
            <a:prstDash val="solid"/>
          </a:ln>
        </p:spPr>
      </p:sp>
      <p:sp>
        <p:nvSpPr>
          <p:cNvPr id="11" name="KeyText"/>
          <p:cNvSpPr/>
          <p:nvPr/>
        </p:nvSpPr>
        <p:spPr>
          <a:xfrm>
            <a:off x="365760" y="453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850" b="1" dirty="0">
                <a:solidFill>
                  <a:srgbClr val="1B3A6B"/>
                </a:solidFill>
              </a:rPr>
              <a:t>💡  Chaque site calcule sa somme partielle localement — seuls les résultats agrégés transitent sur le réseau.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Résultats, Défis et Perspectives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521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Bénéfices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28600" y="50205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EF7"/>
                </a:solidFill>
              </a:rPr>
              <a:t>05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032" y="571498"/>
            <a:ext cx="7772400" cy="41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B3A6B"/>
                </a:solidFill>
              </a:rPr>
              <a:t>Résultats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8600" y="1078992"/>
            <a:ext cx="8686800" cy="0"/>
          </a:xfrm>
          <a:prstGeom prst="line">
            <a:avLst/>
          </a:prstGeom>
          <a:noFill/>
          <a:ln w="889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" y="1334162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" y="140731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Scalabilité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" y="182793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Horizontale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208397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ECFF"/>
                </a:solidFill>
              </a:rPr>
              <a:t>Répartition de la charge sur plusieurs nœuds. Capacité d'ajout de nouveaux sites sans interruption.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035808" y="2185416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2D5FA3"/>
          </a:solidFill>
          <a:ln w="12700">
            <a:solidFill>
              <a:srgbClr val="2D5FA3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27248" y="2258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Résilience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127248" y="26791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Améliorée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27248" y="29352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ECFF"/>
                </a:solidFill>
              </a:rPr>
              <a:t>Élimination du point unique de défaillance. Chaque site reste opérationnel indépendamment.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17390" y="2935224"/>
            <a:ext cx="2788920" cy="1188720"/>
          </a:xfrm>
          <a:prstGeom prst="roundRect">
            <a:avLst>
              <a:gd name="adj" fmla="val 7692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8830" y="30083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Performance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08830" y="34290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Optimisée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8830" y="36850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ECFF"/>
                </a:solidFill>
              </a:rPr>
              <a:t>Index RANGE SCAN remplace TABLE ACCESS FULL. Réduction drastique du coût des requêtes.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06  —  Conclusion et Perspectives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5F8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Ce projet a démontré l'application pratique des bases de données distribuées avec Oracle pour améliorer la scalabilité, la résilience et la performance d'un système E-Shop. La fragmentation horizontale de LigneCommandes, combinée aux procédures PL/SQL et aux triggers de synchronisation, constitue une solution robuste aux limitations des architectures centralisées.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5FA3"/>
                </a:solidFill>
              </a:rPr>
              <a:t>Points Clés Réalisés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B3A6B">
              <a:alpha val="10000"/>
            </a:srgbClr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786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3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2578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Architecture distribuée hétérogène conçue et implémentée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B3A6B">
              <a:alpha val="10000"/>
            </a:srgbClr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9443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3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" y="29443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Fragmentation horizontale de LigneCommandes (2 scénarios)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1B3A6B">
              <a:alpha val="10000"/>
            </a:srgbClr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31012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3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6112" y="33101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Procédures PL/SQL CRUD robustes avec gestion des dépendances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92040" y="2578608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2D5FA3">
              <a:alpha val="10000"/>
            </a:srgbClr>
          </a:solidFill>
          <a:ln w="6350">
            <a:solidFill>
              <a:srgbClr val="2D5F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257860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3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30952" y="2578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Triggers de synchronisation pour la cohérence globale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92040" y="2944368"/>
            <a:ext cx="4114800" cy="310896"/>
          </a:xfrm>
          <a:prstGeom prst="roundRect">
            <a:avLst>
              <a:gd name="adj" fmla="val 14706"/>
            </a:avLst>
          </a:prstGeom>
          <a:solidFill>
            <a:srgbClr val="2D5FA3">
              <a:alpha val="10000"/>
            </a:srgbClr>
          </a:solidFill>
          <a:ln w="6350">
            <a:solidFill>
              <a:srgbClr val="2D5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9443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5FA3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0952" y="29443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Optimisation des requêtes via EXPLAIN PLAN et indexation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114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Merci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0" y="459028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pour votre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1899</Words>
  <Application>Microsoft Office PowerPoint</Application>
  <PresentationFormat>Affichage à l'écran (16:9)</PresentationFormat>
  <Paragraphs>266</Paragraphs>
  <Slides>12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E-shop Distribué - Base de Données</dc:title>
  <dc:subject>PptxGenJS Presentation</dc:subject>
  <dc:creator>PptxGenJS</dc:creator>
  <cp:lastModifiedBy>Fadma Azaroual</cp:lastModifiedBy>
  <cp:revision>5</cp:revision>
  <dcterms:created xsi:type="dcterms:W3CDTF">2026-06-09T19:38:03Z</dcterms:created>
  <dcterms:modified xsi:type="dcterms:W3CDTF">2026-06-11T11:31:07Z</dcterms:modified>
</cp:coreProperties>
</file>